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513" r:id="rId2"/>
    <p:sldId id="588" r:id="rId3"/>
    <p:sldId id="589" r:id="rId4"/>
    <p:sldId id="590" r:id="rId5"/>
    <p:sldId id="591" r:id="rId6"/>
    <p:sldId id="592" r:id="rId7"/>
    <p:sldId id="593" r:id="rId8"/>
    <p:sldId id="594" r:id="rId9"/>
    <p:sldId id="595" r:id="rId10"/>
    <p:sldId id="596" r:id="rId11"/>
    <p:sldId id="535" r:id="rId12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8D"/>
    <a:srgbClr val="3A4A6A"/>
    <a:srgbClr val="385D8B"/>
    <a:srgbClr val="ACE946"/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92D29-8BD5-40EA-B071-4A942BDDCEE0}" v="795" dt="2020-04-22T09:38:05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0" autoAdjust="0"/>
    <p:restoredTop sz="93091" autoAdjust="0"/>
  </p:normalViewPr>
  <p:slideViewPr>
    <p:cSldViewPr snapToGrid="0" snapToObjects="1">
      <p:cViewPr varScale="1">
        <p:scale>
          <a:sx n="82" d="100"/>
          <a:sy n="82" d="100"/>
        </p:scale>
        <p:origin x="760" y="168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21-10-22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4BFCA498-348C-4A5E-9EF5-B337E69E3111}"/>
              </a:ext>
            </a:extLst>
          </p:cNvPr>
          <p:cNvSpPr txBox="1">
            <a:spLocks/>
          </p:cNvSpPr>
          <p:nvPr userDrawn="1"/>
        </p:nvSpPr>
        <p:spPr>
          <a:xfrm>
            <a:off x="0" y="6422550"/>
            <a:ext cx="13835063" cy="4667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l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dirty="0">
                <a:solidFill>
                  <a:schemeClr val="tx1"/>
                </a:solidFill>
              </a:rPr>
              <a:t>Semestre II</a:t>
            </a:r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11638"/>
            <a:ext cx="10653004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21/10/22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21/10/22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21/10/22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21/10/22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21/10/22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21/10/22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21/10/22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 de Datos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Civil Informática.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Carlos Andrés Castro Bustamante</a:t>
            </a:r>
          </a:p>
          <a:p>
            <a:r>
              <a:rPr lang="es-CL" dirty="0"/>
              <a:t>ccastrob@ucm.cl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 </a:t>
            </a:r>
            <a:r>
              <a:rPr lang="es-CL" dirty="0" err="1"/>
              <a:t>Trigger</a:t>
            </a:r>
            <a:r>
              <a:rPr lang="es-CL" dirty="0"/>
              <a:t>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Un </a:t>
            </a:r>
            <a:r>
              <a:rPr lang="es-CL" b="1" dirty="0" err="1"/>
              <a:t>trigger</a:t>
            </a:r>
            <a:r>
              <a:rPr lang="es-CL" dirty="0"/>
              <a:t> es un bloque </a:t>
            </a:r>
            <a:r>
              <a:rPr lang="es-CL" b="1" dirty="0"/>
              <a:t>PL/SQL</a:t>
            </a:r>
            <a:r>
              <a:rPr lang="es-CL" dirty="0"/>
              <a:t> asociado a una tabla, que se ejecuta como consecuencia de una determinada instrucción SQL.</a:t>
            </a:r>
          </a:p>
          <a:p>
            <a:pPr lvl="1"/>
            <a:r>
              <a:rPr lang="es-CL" dirty="0"/>
              <a:t>Una operación DML: </a:t>
            </a:r>
            <a:r>
              <a:rPr lang="es-CL" b="1" dirty="0"/>
              <a:t>INSERT, UPDATE o DELETE.</a:t>
            </a:r>
            <a:r>
              <a:rPr lang="es-CL" dirty="0"/>
              <a:t> Sobre dicha tabla.</a:t>
            </a:r>
          </a:p>
          <a:p>
            <a:r>
              <a:rPr lang="es-CL" dirty="0"/>
              <a:t>Un disparador no puede emitir ninguna orden de control de transacciones: </a:t>
            </a:r>
            <a:r>
              <a:rPr lang="es-CL" b="1" dirty="0" err="1"/>
              <a:t>Commit</a:t>
            </a:r>
            <a:r>
              <a:rPr lang="es-CL" b="1" dirty="0"/>
              <a:t>, </a:t>
            </a:r>
            <a:r>
              <a:rPr lang="es-CL" b="1" dirty="0" err="1"/>
              <a:t>Rollback</a:t>
            </a:r>
            <a:r>
              <a:rPr lang="es-CL" b="1" dirty="0"/>
              <a:t>, </a:t>
            </a:r>
            <a:r>
              <a:rPr lang="es-CL" b="1" dirty="0" err="1"/>
              <a:t>Savepoint</a:t>
            </a:r>
            <a:r>
              <a:rPr lang="es-CL" b="1" dirty="0"/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3574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de los </a:t>
            </a:r>
            <a:r>
              <a:rPr lang="es-CL" dirty="0" err="1"/>
              <a:t>Triggers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mantenimiento de restricciones de integridad complejas.</a:t>
            </a:r>
          </a:p>
          <a:p>
            <a:r>
              <a:rPr lang="es-CL" dirty="0"/>
              <a:t>La auditoría de la información contenida en una tabla.</a:t>
            </a:r>
          </a:p>
          <a:p>
            <a:r>
              <a:rPr lang="es-CL" dirty="0"/>
              <a:t>El aviso automático a otros programas de que hay que llevar a cabo una determinada acción, cuando se realiza un cambio en una tabla.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7688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 un </a:t>
            </a:r>
            <a:r>
              <a:rPr lang="es-CL" dirty="0" err="1"/>
              <a:t>Trigger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La sintaxis para crear un </a:t>
            </a:r>
            <a:r>
              <a:rPr lang="es-CL" dirty="0" err="1"/>
              <a:t>trigger</a:t>
            </a:r>
            <a:r>
              <a:rPr lang="es-CL" dirty="0"/>
              <a:t> es la siguiente:</a:t>
            </a:r>
          </a:p>
          <a:p>
            <a:endParaRPr lang="es-CL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182" y="2835813"/>
            <a:ext cx="9225099" cy="4557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878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Componentes de un </a:t>
            </a:r>
            <a:r>
              <a:rPr lang="es-CL" dirty="0" err="1"/>
              <a:t>Trigger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componentes de un disparador son el nombre, el suceso de disparo y el cuerpo. </a:t>
            </a:r>
          </a:p>
          <a:p>
            <a:r>
              <a:rPr lang="es-CL" dirty="0"/>
              <a:t>La cláusula WHEN es opcional.</a:t>
            </a:r>
          </a:p>
        </p:txBody>
      </p:sp>
    </p:spTree>
    <p:extLst>
      <p:ext uri="{BB962C8B-B14F-4D97-AF65-F5344CB8AC3E}">
        <p14:creationId xmlns:p14="http://schemas.microsoft.com/office/powerpoint/2010/main" val="2547929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Trigger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s-CL" dirty="0"/>
              <a:t>El siguiente ejemplo muestra un </a:t>
            </a:r>
            <a:r>
              <a:rPr lang="es-CL" b="1" dirty="0"/>
              <a:t>trigger </a:t>
            </a:r>
            <a:r>
              <a:rPr lang="es-CL" dirty="0"/>
              <a:t>que inserta un registro en la tabla </a:t>
            </a:r>
            <a:r>
              <a:rPr lang="es-CL" b="1" dirty="0"/>
              <a:t>Boleta </a:t>
            </a:r>
            <a:r>
              <a:rPr lang="es-CL" dirty="0"/>
              <a:t>cada vez que se inserta un nuevo registro en la tabla </a:t>
            </a:r>
            <a:r>
              <a:rPr lang="es-CL" b="1" dirty="0"/>
              <a:t>Boleta</a:t>
            </a:r>
            <a:endParaRPr lang="es-CL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723" dirty="0"/>
              <a:t>      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 b="1" dirty="0"/>
              <a:t>Insert</a:t>
            </a:r>
            <a:r>
              <a:rPr lang="es-CL" dirty="0"/>
              <a:t> into boleta (nroBoleta, det1, det2, det3, tot) values(1,500,2300,100,null);</a:t>
            </a:r>
          </a:p>
          <a:p>
            <a:pPr marL="518785" lvl="1" indent="0">
              <a:lnSpc>
                <a:spcPct val="120000"/>
              </a:lnSpc>
              <a:buNone/>
            </a:pPr>
            <a:endParaRPr lang="es-CL" dirty="0"/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CREATE OR REPLACE TRIGGER agregaTotal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BEFORE INSERT ON Boleta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FOR EACH ROW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DECLARE</a:t>
            </a:r>
          </a:p>
          <a:p>
            <a:pPr marL="1037570" lvl="2" indent="0">
              <a:lnSpc>
                <a:spcPct val="120000"/>
              </a:lnSpc>
              <a:buNone/>
            </a:pPr>
            <a:r>
              <a:rPr lang="es-CL" dirty="0"/>
              <a:t>total number;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BEGIN</a:t>
            </a:r>
          </a:p>
          <a:p>
            <a:pPr marL="1037570" lvl="2" indent="0">
              <a:lnSpc>
                <a:spcPct val="120000"/>
              </a:lnSpc>
              <a:buNone/>
            </a:pPr>
            <a:r>
              <a:rPr lang="es-CL" dirty="0"/>
              <a:t>total := :NEW.det1 + :NEW.det2 + :NEW.det3;</a:t>
            </a:r>
          </a:p>
          <a:p>
            <a:pPr marL="1037570" lvl="2" indent="0">
              <a:lnSpc>
                <a:spcPct val="120000"/>
              </a:lnSpc>
              <a:buNone/>
            </a:pPr>
            <a:r>
              <a:rPr lang="es-CL" dirty="0"/>
              <a:t>:NEW.tot := total;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CL"/>
              <a:t>END;</a:t>
            </a:r>
            <a:endParaRPr lang="es-CL" dirty="0"/>
          </a:p>
          <a:p>
            <a:pPr marL="518785" lvl="1" indent="0">
              <a:lnSpc>
                <a:spcPct val="120000"/>
              </a:lnSpc>
              <a:buNone/>
            </a:pPr>
            <a:r>
              <a:rPr lang="es-CL" dirty="0"/>
              <a:t>/</a:t>
            </a:r>
          </a:p>
          <a:p>
            <a:pPr marL="518785" lvl="1" indent="0">
              <a:lnSpc>
                <a:spcPct val="120000"/>
              </a:lnSpc>
              <a:buNone/>
            </a:pPr>
            <a:endParaRPr lang="es-CL" dirty="0"/>
          </a:p>
          <a:p>
            <a:pPr marL="518785" lvl="1" indent="0">
              <a:lnSpc>
                <a:spcPct val="120000"/>
              </a:lnSpc>
              <a:buNone/>
            </a:pPr>
            <a:r>
              <a:rPr lang="es-CL" b="1" dirty="0"/>
              <a:t>Insert</a:t>
            </a:r>
            <a:r>
              <a:rPr lang="es-CL" dirty="0"/>
              <a:t> into boleta (nroBoleta, det1, det2, det3, tot) values(1,500,2300,100,2900);</a:t>
            </a:r>
          </a:p>
          <a:p>
            <a:pPr marL="518785" lvl="1" indent="0">
              <a:lnSpc>
                <a:spcPct val="120000"/>
              </a:lnSpc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7320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Trigger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</a:t>
            </a:r>
            <a:r>
              <a:rPr lang="es-CL" dirty="0" err="1"/>
              <a:t>trigger</a:t>
            </a:r>
            <a:r>
              <a:rPr lang="es-CL" dirty="0"/>
              <a:t> se ejecutará cuando sobre la tabla </a:t>
            </a:r>
            <a:r>
              <a:rPr lang="es-CL" b="1" dirty="0"/>
              <a:t>Productos </a:t>
            </a:r>
            <a:r>
              <a:rPr lang="es-CL" dirty="0"/>
              <a:t>se ejecute una sentencia </a:t>
            </a:r>
            <a:r>
              <a:rPr lang="es-CL" b="1" dirty="0"/>
              <a:t>INSERT.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897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Old y New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911" y="2110031"/>
            <a:ext cx="7294106" cy="498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542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8785" lvl="1" indent="0">
              <a:lnSpc>
                <a:spcPct val="110000"/>
              </a:lnSpc>
              <a:buNone/>
            </a:pPr>
            <a:r>
              <a:rPr lang="es-CL" dirty="0"/>
              <a:t>Insert into persona(nombre, apellido) values (’juan’,’perez’);</a:t>
            </a:r>
          </a:p>
          <a:p>
            <a:pPr marL="518785" lvl="1" indent="0">
              <a:lnSpc>
                <a:spcPct val="110000"/>
              </a:lnSpc>
              <a:buNone/>
            </a:pPr>
            <a:endParaRPr lang="es-CL" dirty="0"/>
          </a:p>
          <a:p>
            <a:pPr marL="518785" lvl="1" indent="0">
              <a:lnSpc>
                <a:spcPct val="110000"/>
              </a:lnSpc>
              <a:buNone/>
            </a:pPr>
            <a:r>
              <a:rPr lang="es-CL" dirty="0"/>
              <a:t>create or replace trigger idPersonaAuto</a:t>
            </a:r>
          </a:p>
          <a:p>
            <a:pPr marL="1037570" lvl="2" indent="0">
              <a:lnSpc>
                <a:spcPct val="110000"/>
              </a:lnSpc>
              <a:buNone/>
            </a:pPr>
            <a:r>
              <a:rPr lang="es-CL" dirty="0" err="1"/>
              <a:t>before</a:t>
            </a:r>
            <a:r>
              <a:rPr lang="es-CL" dirty="0"/>
              <a:t> </a:t>
            </a:r>
            <a:r>
              <a:rPr lang="es-CL" dirty="0" err="1"/>
              <a:t>insert</a:t>
            </a:r>
            <a:r>
              <a:rPr lang="es-CL" dirty="0"/>
              <a:t> </a:t>
            </a:r>
            <a:r>
              <a:rPr lang="es-CL" dirty="0" err="1"/>
              <a:t>on</a:t>
            </a:r>
            <a:r>
              <a:rPr lang="es-CL" dirty="0"/>
              <a:t> persona</a:t>
            </a:r>
          </a:p>
          <a:p>
            <a:pPr marL="1037570" lvl="2" indent="0">
              <a:lnSpc>
                <a:spcPct val="110000"/>
              </a:lnSpc>
              <a:buNone/>
            </a:pPr>
            <a:r>
              <a:rPr lang="es-CL" dirty="0" err="1"/>
              <a:t>for</a:t>
            </a:r>
            <a:r>
              <a:rPr lang="es-CL" dirty="0"/>
              <a:t> </a:t>
            </a:r>
            <a:r>
              <a:rPr lang="es-CL" dirty="0" err="1"/>
              <a:t>each</a:t>
            </a:r>
            <a:r>
              <a:rPr lang="es-CL" dirty="0"/>
              <a:t> </a:t>
            </a:r>
            <a:r>
              <a:rPr lang="es-CL" dirty="0" err="1"/>
              <a:t>row</a:t>
            </a:r>
            <a:endParaRPr lang="es-CL" dirty="0"/>
          </a:p>
          <a:p>
            <a:pPr marL="518785" lvl="1" indent="0">
              <a:lnSpc>
                <a:spcPct val="110000"/>
              </a:lnSpc>
              <a:buNone/>
            </a:pPr>
            <a:r>
              <a:rPr lang="es-CL" dirty="0"/>
              <a:t>Begin</a:t>
            </a:r>
          </a:p>
          <a:p>
            <a:pPr marL="1037570" lvl="2" indent="0">
              <a:lnSpc>
                <a:spcPct val="110000"/>
              </a:lnSpc>
              <a:buNone/>
            </a:pPr>
            <a:r>
              <a:rPr lang="es-CL" dirty="0"/>
              <a:t>SELECT </a:t>
            </a:r>
            <a:r>
              <a:rPr lang="es-CL" dirty="0" err="1"/>
              <a:t>max</a:t>
            </a:r>
            <a:r>
              <a:rPr lang="es-CL" dirty="0"/>
              <a:t>(</a:t>
            </a:r>
            <a:r>
              <a:rPr lang="es-CL" b="1" dirty="0"/>
              <a:t>id</a:t>
            </a:r>
            <a:r>
              <a:rPr lang="es-CL" dirty="0"/>
              <a:t>) + 1 </a:t>
            </a:r>
            <a:r>
              <a:rPr lang="es-CL" dirty="0" err="1"/>
              <a:t>into</a:t>
            </a:r>
            <a:r>
              <a:rPr lang="es-CL" dirty="0"/>
              <a:t> :new.</a:t>
            </a:r>
            <a:r>
              <a:rPr lang="es-CL" b="1" dirty="0"/>
              <a:t>id</a:t>
            </a:r>
            <a:r>
              <a:rPr lang="es-CL" dirty="0"/>
              <a:t> </a:t>
            </a:r>
            <a:r>
              <a:rPr lang="es-CL" dirty="0" err="1"/>
              <a:t>from</a:t>
            </a:r>
            <a:r>
              <a:rPr lang="es-CL" dirty="0"/>
              <a:t> persona;</a:t>
            </a:r>
          </a:p>
          <a:p>
            <a:pPr marL="1037570" lvl="2" indent="0">
              <a:lnSpc>
                <a:spcPct val="110000"/>
              </a:lnSpc>
              <a:buNone/>
            </a:pPr>
            <a:r>
              <a:rPr lang="es-CL" dirty="0"/>
              <a:t>IF (:new.</a:t>
            </a:r>
            <a:r>
              <a:rPr lang="es-CL" b="1" dirty="0"/>
              <a:t>id</a:t>
            </a:r>
            <a:r>
              <a:rPr lang="es-CL" dirty="0"/>
              <a:t> </a:t>
            </a:r>
            <a:r>
              <a:rPr lang="es-CL" dirty="0" err="1"/>
              <a:t>is</a:t>
            </a:r>
            <a:r>
              <a:rPr lang="es-CL" dirty="0"/>
              <a:t> </a:t>
            </a:r>
            <a:r>
              <a:rPr lang="es-CL" dirty="0" err="1"/>
              <a:t>null</a:t>
            </a:r>
            <a:r>
              <a:rPr lang="es-CL" dirty="0"/>
              <a:t>) </a:t>
            </a:r>
            <a:r>
              <a:rPr lang="es-CL" dirty="0" err="1"/>
              <a:t>then</a:t>
            </a:r>
            <a:endParaRPr lang="es-CL" dirty="0"/>
          </a:p>
          <a:p>
            <a:pPr marL="1556355" lvl="3" indent="0">
              <a:lnSpc>
                <a:spcPct val="110000"/>
              </a:lnSpc>
              <a:buNone/>
            </a:pPr>
            <a:r>
              <a:rPr lang="es-CL" dirty="0"/>
              <a:t>:new.id := 1;</a:t>
            </a:r>
          </a:p>
          <a:p>
            <a:pPr marL="1037570" lvl="2" indent="0">
              <a:lnSpc>
                <a:spcPct val="110000"/>
              </a:lnSpc>
              <a:buNone/>
            </a:pPr>
            <a:r>
              <a:rPr lang="es-CL" dirty="0" err="1"/>
              <a:t>end</a:t>
            </a:r>
            <a:r>
              <a:rPr lang="es-CL" dirty="0"/>
              <a:t> </a:t>
            </a:r>
            <a:r>
              <a:rPr lang="es-CL" dirty="0" err="1"/>
              <a:t>if</a:t>
            </a:r>
            <a:r>
              <a:rPr lang="es-CL" dirty="0"/>
              <a:t>;</a:t>
            </a:r>
          </a:p>
          <a:p>
            <a:pPr marL="518785" lvl="1" indent="0">
              <a:lnSpc>
                <a:spcPct val="110000"/>
              </a:lnSpc>
              <a:buNone/>
            </a:pPr>
            <a:r>
              <a:rPr lang="es-CL" dirty="0" err="1"/>
              <a:t>end</a:t>
            </a:r>
            <a:r>
              <a:rPr lang="es-CL" dirty="0"/>
              <a:t> </a:t>
            </a:r>
            <a:r>
              <a:rPr lang="es-CL" dirty="0" err="1"/>
              <a:t>idPersonaAuto</a:t>
            </a:r>
            <a:r>
              <a:rPr lang="es-CL" dirty="0"/>
              <a:t>;</a:t>
            </a:r>
          </a:p>
          <a:p>
            <a:pPr marL="518785" lvl="1" indent="0">
              <a:lnSpc>
                <a:spcPct val="110000"/>
              </a:lnSpc>
              <a:buNone/>
            </a:pPr>
            <a:r>
              <a:rPr lang="es-CL" dirty="0"/>
              <a:t>/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4161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un </a:t>
            </a:r>
            <a:r>
              <a:rPr lang="es-CL" dirty="0" err="1"/>
              <a:t>Trigger</a:t>
            </a:r>
            <a:endParaRPr lang="es-CL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373" y="2644642"/>
            <a:ext cx="9457717" cy="367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7185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Preguntas</a:t>
            </a:r>
          </a:p>
        </p:txBody>
      </p:sp>
      <p:pic>
        <p:nvPicPr>
          <p:cNvPr id="4098" name="Picture 2" descr="http://1.bp.blogspot.com/-UcYAOb-TVhE/UPW3rKZPhnI/AAAAAAAAAGI/bLygTk07kAY/s1600/face_question_mark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9677" y="1815784"/>
            <a:ext cx="5135711" cy="513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958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9915</TotalTime>
  <Words>282</Words>
  <Application>Microsoft Macintosh PowerPoint</Application>
  <PresentationFormat>Personalizado</PresentationFormat>
  <Paragraphs>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Base de Datos Ingeniería Civil Informática.</vt:lpstr>
      <vt:lpstr>¿Qué es un Trigger?</vt:lpstr>
      <vt:lpstr>Uso de los Triggers</vt:lpstr>
      <vt:lpstr>Estructura de un Trigger</vt:lpstr>
      <vt:lpstr>Componentes de un Trigger</vt:lpstr>
      <vt:lpstr>Trigger</vt:lpstr>
      <vt:lpstr>Trigger</vt:lpstr>
      <vt:lpstr>Old y New</vt:lpstr>
      <vt:lpstr>Ejemplo</vt:lpstr>
      <vt:lpstr>Manipulación de un Trigger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Microsoft Office User</cp:lastModifiedBy>
  <cp:revision>288</cp:revision>
  <dcterms:created xsi:type="dcterms:W3CDTF">2020-04-15T04:11:33Z</dcterms:created>
  <dcterms:modified xsi:type="dcterms:W3CDTF">2022-10-21T15:28:50Z</dcterms:modified>
</cp:coreProperties>
</file>